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.svg" ContentType="image/svg+xml"/>
  <Override PartName="/ppt/media/image120.svg" ContentType="image/svg+xml"/>
  <Override PartName="/ppt/media/image122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0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8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3.svg" ContentType="image/svg+xml"/>
  <Override PartName="/ppt/media/image96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关于边缘计算的入门分享。在今天的内容中，我们将一起探索边缘计算这一前沿技术，从它的基本定义开始，深入了解其核心架构、关键技术、应用场景，并为大家提供一条清晰的学习路径。希望通过这次分享，能帮助大家对边缘计算建立一个全面而深入的认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五个部分。首先，我们会明确什么是边缘计算，以及它为何在今天变得如此重要。接着，我们将剖析其典型的三层架构。然后，深入探讨实现边缘计算所需的关键技术栈。之后，我们会通过几个生动的应用场景来展示它的实际价值。最后，我将为大家提供一个清晰的学习路径建议，帮助大家从零开始掌握这项技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回答第一个问题：什么是边缘计算？简单来说，它就是一种将计算能力从遥远的云端，下沉到离数据产生源头更近的地方——也就是网络边缘的技术。我们为什么需要它呢？想象一下，传统云计算就像一个中心化的大工厂，所有数据都要长途跋涉去那里处理，这在物联网时代会带来巨大的延迟和网络拥堵。而边缘计算，就像在工厂门口设立了多个小型加工站，实现了四大核心优势：毫秒级的低延迟响应、大幅节省网络带宽、更好地保障数据隐私安全，以及在断网情况下依然能独立工作的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了解了定义和优势后，我们来看看边缘计算的典型架构。它通常分为清晰的三层。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最左侧是“终端层”，包括我们身边的手机、传感器、摄像头等，它们负责采集原始数据。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中间是“边缘节点层”，比如边缘网关或微型数据中心，它们负责在本地进行数据处理和存储，起到了承上启下的关键作用。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最右侧是“核心云层”，也就是我们熟悉的公有云或私有云，负责进行大规模的数据分析和模型训练，并将策略下发给边缘节点。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这个三层架构实现了云、边、端的协同工作，让数据在最合适的地方被处理。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实现边缘计算，我们需要掌握一系列关键技术。首先是“容器化与编排”，因为边缘设备资源有限，所以像Docker和轻量化的Kubernetes（如K3s）成为了部署应用的标准。其次是“边缘AI”，我们需要将庞大的AI模型进行压缩，并利用专用硬件（如NVIDIA Jetson）在边缘端实现高效的推理。最后是“通信协议”，边缘网关需要像一个翻译官，既能听懂各种设备的“方言”（如MQTT, Modbus），也能和云端顺畅对话（如HTTP, gRPC）。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说完了，我们来看一些实际应用。在自动驾驶领域，边缘计算能实现毫秒级的实时决策，这是生命攸关的。在智能工厂，它能通过分析设备数据实现预测性维护，避免重大损失。在云游戏中，它能将游戏渲染放在离玩家更近的地方，大大降低延迟。在智能安防领域，它可以在本地进行智能分析，只上传关键的告警视频，从而节省大量的存储和带宽成本。这些场景都充分体现了边缘计算的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最后，对于想深入学习边缘计算的朋友，我建议可以遵循这样一条路径。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入门阶段，可以从理解MQTT协议开始，并用树莓派动手搭建一个简单的传感器系统，这能帮大家建立最直观的硬件实践体验。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进阶阶段，需要学习像K3s或OpenYurt这样的工具，掌握如何管理大规模的边缘节点，这是工业级应用的关键一步。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到了高级阶段，就可以尝试将AI模型（如TensorFlow Lite）部署到边缘设备上，实现真正的边缘智能。这条路径由浅入深，帮助大家一步步掌握边缘计算的核心能力。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大家好，今天我们将深入探讨一个激动人心的领域——边缘人工智能，也就是Edge AI。如果说边缘计算为数据提供了“就近处理”的场地，那么Edge AI就是赋予这个场地“思考和决策”的大脑。在本次分享中，我们将解析Edge AI的核心价值、关键技术挑战与解决方案、标准的开发流程，以及支撑这一切的底层硬件。希望能帮助大家全面理解并掌握这项前沿技术。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围绕四个核心部分展开。首先，我们会探讨为什么我们需要将AI能力下沉到边缘，它解决了哪些传统云计算无法解决的痛点。接着，我们将深入剖析在资源受限的边缘设备上运行AI所面临的三大核心挑战，并介绍相应的解决方案。之后，我们会梳理一个典型的Edge AI项目从开发到部署的完整流程。最后，我们会了解一下支撑边缘智能的各种硬件加速器。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那么，我们为什么要把AI放在边缘呢？除了大家熟知的低延迟、节省带宽和保护隐私外，Edge AI还解决了两个非常关键的痛点。第一是“实时性”，在机械臂抓取、自动驾驶等场景中，决策必须在毫秒内完成，任何网络延迟都可能导致灾难性后果。第二是“断网生存能力”，在网络不稳定的偏远地区，比如智慧农业，设备必须依靠本地AI独立做出判断和反应。这两点是云端AI难以企及的优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在资源受限的边缘设备上运行AI，我们面临的第一个挑战就是模型太大。解决方案就是“模型压缩”。主要有三种技术：首先是“量化”，通过降低数据精度来大幅减小模型体积并提升速度；其次是“剪枝”，去掉模型中不重要的连接，让它变得更精简；最后是“知识蒸馏”，用一个复杂的大模型去教一个简单的小模型，让小模型也拥有强大的能力。这些技术就像是为模型做“瘦身手术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压缩模型，我们还需要从算法和框架层面进行优化。在算法选择上，我们会优先使用像YOLO系列这样为边缘设计的轻量级模型。在部署框架上，我们需要借助专门的推理引擎，比如NVIDIA的TensorRT可以为其Jetson平台提供极致加速，而腾讯的NCNN和阿里的MNN则对ARM架构的设备有很好的优化。对于资源极其有限的微控制器，我们还有像TensorFlow Lite for Microcontrollers这样的TinyML框架。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了解了技术挑战后，我们来看看一个典型的Edge AI项目是如何运作的。整个流程形成一个闭环。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首先，在云端利用强大的算力训练出一个高精度的模型。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然后，对这个模型进行转换和优化，使其能适应边缘设备。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接着，将优化后的模型部署到边缘节点上。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最后，设备在本地进行实时推理，并根据结果执行相应的动作。这个流程确保了AI能力从云端无缝延伸到边缘。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最后，我们来看看支撑这一切的硬件基础。边缘AI的蓬勃发展离不开各种专用AI芯片的出现。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首先是集成在SoC中的NPU（神经网络处理单元），例如瑞芯微RK3588，它能效比极高，非常适合移动端的推理任务。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其次是性能强大的边缘GPU板卡，比如NVIDIA的Jetson系列，能够处理非常复杂的视觉模型和高分辨率视频。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最后是像Intel神经计算棒和Google Coral TPU这样的加速模块，它们体积小、功耗低，非常适合在嵌入式场景下快速部署。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这些多样化的硬件选择，为边缘智能提供了坚实的算力基座。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将探讨一个非常前沿且实用的话题：TinyML，也就是在资源极其受限的微控制器上实现AI推理。我们将以RT-Thread操作系统为例，详细介绍如何将一个AI模型从云端训练，一步步部署到只有几十KB内存的MCU上，并实现一个完整的“感知-推理-行动”闭环。这是一个将AI能力真正赋予万物的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五个部分。首先，我们会明确什么是TinyML，以及它所面临的极致挑战。接着，我们将学习如何在PC端设计和训练一个足够小的模型。然后，我们将进入TinyML的核心步骤——模型转换与量化。之后，我们会详细讲解如何在RT-Thread系统上集成和部署这个模型。最后，我们将探讨如何编写应用逻辑，完成一个完整的智能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到底什么是TinyML？简单来说，它就是在资源极其有限的微控制器上运行AI。想象一下，在只有几十KB内存的芯片上实现智能，这意味着我们必须“榨干每一KB内存”。因此，TinyML的主战场不是复杂的图像识别，而是处理像传感器采集的一维时间序列数据，用于异常检测、状态分类等场景。这是将AI能力推向最末端的关键技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第一步，我们需要在PC端设计和训练模型。由于目标设备资源有限，模型必须足够小。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对于温湿度这类简单数据，一个简单的MLP网络就足够了。对于加速度计这类时间序列数据，可以使用轻量级的1D CNN。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训练过程和常规AI一样，但关键在于要时刻记住目标平台的限制，从设计之初就控制好模型的复杂度。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第三步，也是TinyML最核心的一步：模型转换与量化。我们首先将训练好的模型转换为TensorFlow Lite格式。然后，进行“全整数量化”，将所有数据从32位浮点数转为8位整数，这不仅能大幅减小模型体积，更能让没有硬件浮点单元的MCU实现十倍以上的推理加速。最后，我们将模型文件转换成C语言数组，这样它就能像普通代码一样被编译进芯片的Flash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现在我们来到设备端。在RT-Thread上部署模型非常方便，因为它有丰富的软件包生态。我们可以直接通过Env工具或Studio引入TensorFlow Lite for Microcontrollers（TFLM）引擎。如果你的MCU是ARM Cortex-M内核，一定要记得开启CMSIS-NN库，它能提供显著的硬件加速。最后，我们需要在代码中静态分配一块名为“Tensor Arena”的内存，这是模型运行时的“工作台”。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步，编写应用逻辑，形成一个完整的智能闭环。在RT-Thread的多线程环境下，我们可以设计几个协同工作的线程：一个线程负责采集传感器数据，一个线程负责调用模型进行推理，还有一个线程根据推理结果执行动作，比如控制硬件或上报数据到云端。这样，一个端到端的智能物联网节点就完成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6.sv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svg"/><Relationship Id="rId7" Type="http://schemas.openxmlformats.org/officeDocument/2006/relationships/image" Target="../media/image19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2.sv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2.sv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2.svg"/><Relationship Id="rId7" Type="http://schemas.openxmlformats.org/officeDocument/2006/relationships/image" Target="../media/image41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0.svg"/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8.svg"/><Relationship Id="rId7" Type="http://schemas.openxmlformats.org/officeDocument/2006/relationships/image" Target="../media/image57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5.svg"/><Relationship Id="rId7" Type="http://schemas.openxmlformats.org/officeDocument/2006/relationships/image" Target="../media/image64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Relationship Id="rId3" Type="http://schemas.openxmlformats.org/officeDocument/2006/relationships/image" Target="../media/image60.png"/><Relationship Id="rId2" Type="http://schemas.openxmlformats.org/officeDocument/2006/relationships/image" Target="../media/image4.sv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3.svg"/><Relationship Id="rId7" Type="http://schemas.openxmlformats.org/officeDocument/2006/relationships/image" Target="../media/image72.png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69.svg"/><Relationship Id="rId3" Type="http://schemas.openxmlformats.org/officeDocument/2006/relationships/image" Target="../media/image68.png"/><Relationship Id="rId2" Type="http://schemas.openxmlformats.org/officeDocument/2006/relationships/image" Target="../media/image67.sv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66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76.svg"/><Relationship Id="rId3" Type="http://schemas.openxmlformats.org/officeDocument/2006/relationships/image" Target="../media/image75.png"/><Relationship Id="rId2" Type="http://schemas.openxmlformats.org/officeDocument/2006/relationships/image" Target="../media/image12.svg"/><Relationship Id="rId1" Type="http://schemas.openxmlformats.org/officeDocument/2006/relationships/image" Target="../media/image7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4.svg"/><Relationship Id="rId7" Type="http://schemas.openxmlformats.org/officeDocument/2006/relationships/image" Target="../media/image83.png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80.svg"/><Relationship Id="rId3" Type="http://schemas.openxmlformats.org/officeDocument/2006/relationships/image" Target="../media/image79.png"/><Relationship Id="rId2" Type="http://schemas.openxmlformats.org/officeDocument/2006/relationships/image" Target="../media/image78.sv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image" Target="../media/image88.svg"/><Relationship Id="rId3" Type="http://schemas.openxmlformats.org/officeDocument/2006/relationships/image" Target="../media/image87.png"/><Relationship Id="rId2" Type="http://schemas.openxmlformats.org/officeDocument/2006/relationships/image" Target="../media/image86.svg"/><Relationship Id="rId1" Type="http://schemas.openxmlformats.org/officeDocument/2006/relationships/image" Target="../media/image85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2.svg"/><Relationship Id="rId3" Type="http://schemas.openxmlformats.org/officeDocument/2006/relationships/image" Target="../media/image91.png"/><Relationship Id="rId2" Type="http://schemas.openxmlformats.org/officeDocument/2006/relationships/image" Target="../media/image12.svg"/><Relationship Id="rId1" Type="http://schemas.openxmlformats.org/officeDocument/2006/relationships/image" Target="../media/image7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8.png"/><Relationship Id="rId8" Type="http://schemas.openxmlformats.org/officeDocument/2006/relationships/image" Target="../media/image30.svg"/><Relationship Id="rId7" Type="http://schemas.openxmlformats.org/officeDocument/2006/relationships/image" Target="../media/image97.png"/><Relationship Id="rId6" Type="http://schemas.openxmlformats.org/officeDocument/2006/relationships/image" Target="../media/image96.svg"/><Relationship Id="rId5" Type="http://schemas.openxmlformats.org/officeDocument/2006/relationships/image" Target="../media/image95.png"/><Relationship Id="rId4" Type="http://schemas.openxmlformats.org/officeDocument/2006/relationships/image" Target="../media/image46.svg"/><Relationship Id="rId3" Type="http://schemas.openxmlformats.org/officeDocument/2006/relationships/image" Target="../media/image94.png"/><Relationship Id="rId2" Type="http://schemas.openxmlformats.org/officeDocument/2006/relationships/image" Target="../media/image93.svg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99.svg"/><Relationship Id="rId1" Type="http://schemas.openxmlformats.org/officeDocument/2006/relationships/image" Target="../media/image9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4.svg"/><Relationship Id="rId5" Type="http://schemas.openxmlformats.org/officeDocument/2006/relationships/image" Target="../media/image103.png"/><Relationship Id="rId4" Type="http://schemas.openxmlformats.org/officeDocument/2006/relationships/image" Target="../media/image102.svg"/><Relationship Id="rId3" Type="http://schemas.openxmlformats.org/officeDocument/2006/relationships/image" Target="../media/image101.png"/><Relationship Id="rId2" Type="http://schemas.openxmlformats.org/officeDocument/2006/relationships/image" Target="../media/image8.svg"/><Relationship Id="rId1" Type="http://schemas.openxmlformats.org/officeDocument/2006/relationships/image" Target="../media/image100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3.png"/><Relationship Id="rId8" Type="http://schemas.openxmlformats.org/officeDocument/2006/relationships/image" Target="../media/image112.svg"/><Relationship Id="rId7" Type="http://schemas.openxmlformats.org/officeDocument/2006/relationships/image" Target="../media/image111.png"/><Relationship Id="rId6" Type="http://schemas.openxmlformats.org/officeDocument/2006/relationships/image" Target="../media/image110.svg"/><Relationship Id="rId5" Type="http://schemas.openxmlformats.org/officeDocument/2006/relationships/image" Target="../media/image109.png"/><Relationship Id="rId4" Type="http://schemas.openxmlformats.org/officeDocument/2006/relationships/image" Target="../media/image108.svg"/><Relationship Id="rId3" Type="http://schemas.openxmlformats.org/officeDocument/2006/relationships/image" Target="../media/image107.png"/><Relationship Id="rId2" Type="http://schemas.openxmlformats.org/officeDocument/2006/relationships/image" Target="../media/image106.svg"/><Relationship Id="rId12" Type="http://schemas.openxmlformats.org/officeDocument/2006/relationships/notesSlide" Target="../notesSlides/notesSlide18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14.svg"/><Relationship Id="rId1" Type="http://schemas.openxmlformats.org/officeDocument/2006/relationships/image" Target="../media/image105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22.svg"/><Relationship Id="rId7" Type="http://schemas.openxmlformats.org/officeDocument/2006/relationships/image" Target="../media/image121.png"/><Relationship Id="rId6" Type="http://schemas.openxmlformats.org/officeDocument/2006/relationships/image" Target="../media/image120.svg"/><Relationship Id="rId5" Type="http://schemas.openxmlformats.org/officeDocument/2006/relationships/image" Target="../media/image119.png"/><Relationship Id="rId4" Type="http://schemas.openxmlformats.org/officeDocument/2006/relationships/image" Target="../media/image118.svg"/><Relationship Id="rId3" Type="http://schemas.openxmlformats.org/officeDocument/2006/relationships/image" Target="../media/image117.png"/><Relationship Id="rId2" Type="http://schemas.openxmlformats.org/officeDocument/2006/relationships/image" Target="../media/image116.svg"/><Relationship Id="rId10" Type="http://schemas.openxmlformats.org/officeDocument/2006/relationships/notesSlide" Target="../notesSlides/notesSlide19.xml"/><Relationship Id="rId1" Type="http://schemas.openxmlformats.org/officeDocument/2006/relationships/image" Target="../media/image115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1.png"/><Relationship Id="rId8" Type="http://schemas.openxmlformats.org/officeDocument/2006/relationships/image" Target="../media/image130.svg"/><Relationship Id="rId7" Type="http://schemas.openxmlformats.org/officeDocument/2006/relationships/image" Target="../media/image129.png"/><Relationship Id="rId6" Type="http://schemas.openxmlformats.org/officeDocument/2006/relationships/image" Target="../media/image128.svg"/><Relationship Id="rId5" Type="http://schemas.openxmlformats.org/officeDocument/2006/relationships/image" Target="../media/image127.png"/><Relationship Id="rId4" Type="http://schemas.openxmlformats.org/officeDocument/2006/relationships/image" Target="../media/image126.svg"/><Relationship Id="rId3" Type="http://schemas.openxmlformats.org/officeDocument/2006/relationships/image" Target="../media/image125.png"/><Relationship Id="rId2" Type="http://schemas.openxmlformats.org/officeDocument/2006/relationships/image" Target="../media/image124.svg"/><Relationship Id="rId12" Type="http://schemas.openxmlformats.org/officeDocument/2006/relationships/notesSlide" Target="../notesSlides/notesSlide20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32.svg"/><Relationship Id="rId1" Type="http://schemas.openxmlformats.org/officeDocument/2006/relationships/image" Target="../media/image123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38.svg"/><Relationship Id="rId7" Type="http://schemas.openxmlformats.org/officeDocument/2006/relationships/image" Target="../media/image137.png"/><Relationship Id="rId6" Type="http://schemas.openxmlformats.org/officeDocument/2006/relationships/image" Target="../media/image136.svg"/><Relationship Id="rId5" Type="http://schemas.openxmlformats.org/officeDocument/2006/relationships/image" Target="../media/image135.png"/><Relationship Id="rId4" Type="http://schemas.openxmlformats.org/officeDocument/2006/relationships/image" Target="../media/image134.svg"/><Relationship Id="rId3" Type="http://schemas.openxmlformats.org/officeDocument/2006/relationships/image" Target="../media/image133.png"/><Relationship Id="rId2" Type="http://schemas.openxmlformats.org/officeDocument/2006/relationships/image" Target="../media/image69.svg"/><Relationship Id="rId10" Type="http://schemas.openxmlformats.org/officeDocument/2006/relationships/notesSlide" Target="../notesSlides/notesSlide21.xml"/><Relationship Id="rId1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边缘计算入门：从定义到实践的全面解析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1460500"/>
            <a:ext cx="101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cap="flat" cmpd="sng">
            <a:solidFill>
              <a:srgbClr val="00A06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334155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841500" y="2413000"/>
            <a:ext cx="1143000" cy="1143000"/>
          </a:xfrm>
          <a:prstGeom prst="ellipse">
            <a:avLst/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32000" y="2603500"/>
            <a:ext cx="762000" cy="762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889000" y="3746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核心定义与架构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254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解析边缘计算“就近处理”的本质，对比云边端协同架构与传统中心化模式的差异。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18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334155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397500" y="2413000"/>
            <a:ext cx="1143000" cy="1143000"/>
          </a:xfrm>
          <a:prstGeom prst="ellipse">
            <a:avLst/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0" y="2603500"/>
            <a:ext cx="762000" cy="762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445000" y="3746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关键技术栈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08500" y="4254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涵盖边缘节点硬件、边缘操作系统、容器化部署及边缘AI推理加速技术。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874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334155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953500" y="2413000"/>
            <a:ext cx="1143000" cy="1143000"/>
          </a:xfrm>
          <a:prstGeom prst="ellipse">
            <a:avLst/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0" y="2603500"/>
            <a:ext cx="762000" cy="762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001000" y="3746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落地场景与未来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064500" y="4254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探索智慧工厂、自动驾驶、远程医疗等典型场景，掌握边缘计算带来的低延迟价值。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0" y="5842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84200"/>
            <a:ext cx="76200" cy="4064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128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边缘计算：技术架构与应用全景目录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651000"/>
            <a:ext cx="2082800" cy="4064000"/>
          </a:xfrm>
          <a:prstGeom prst="roundRect">
            <a:avLst>
              <a:gd name="adj" fmla="val 6097"/>
            </a:avLst>
          </a:prstGeom>
          <a:solidFill>
            <a:srgbClr val="2D303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43000" y="2032000"/>
            <a:ext cx="1016000" cy="1016000"/>
          </a:xfrm>
          <a:prstGeom prst="ellipse">
            <a:avLst/>
          </a:prstGeom>
          <a:solidFill>
            <a:srgbClr val="34D39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7000" y="2286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36600" y="32385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基础认知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28647">
            <a:off x="889026" y="3676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736600" y="3873500"/>
            <a:ext cx="18288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定义与核心理念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核心价值与需求背景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882900" y="1651000"/>
            <a:ext cx="2082800" cy="4064000"/>
          </a:xfrm>
          <a:prstGeom prst="roundRect">
            <a:avLst>
              <a:gd name="adj" fmla="val 6097"/>
            </a:avLst>
          </a:prstGeom>
          <a:solidFill>
            <a:srgbClr val="2D303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416300" y="2032000"/>
            <a:ext cx="1016000" cy="1016000"/>
          </a:xfrm>
          <a:prstGeom prst="ellipse">
            <a:avLst/>
          </a:prstGeom>
          <a:solidFill>
            <a:srgbClr val="34D39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0300" y="2286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009900" y="32385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核心架构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28647">
            <a:off x="3162326" y="3676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009900" y="3873500"/>
            <a:ext cx="18288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终端采集层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边缘节点层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核心云层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156200" y="1651000"/>
            <a:ext cx="2082800" cy="4064000"/>
          </a:xfrm>
          <a:prstGeom prst="roundRect">
            <a:avLst>
              <a:gd name="adj" fmla="val 6097"/>
            </a:avLst>
          </a:prstGeom>
          <a:solidFill>
            <a:srgbClr val="2D303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689600" y="2032000"/>
            <a:ext cx="1016000" cy="1016000"/>
          </a:xfrm>
          <a:prstGeom prst="ellipse">
            <a:avLst/>
          </a:prstGeom>
          <a:solidFill>
            <a:srgbClr val="34D39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3600" y="2286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283200" y="32385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关键技术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28647">
            <a:off x="5435626" y="3676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5283200" y="3873500"/>
            <a:ext cx="18288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容器化与编排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边缘AI推理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5G通信协议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429500" y="1651000"/>
            <a:ext cx="2082800" cy="4064000"/>
          </a:xfrm>
          <a:prstGeom prst="roundRect">
            <a:avLst>
              <a:gd name="adj" fmla="val 6097"/>
            </a:avLst>
          </a:prstGeom>
          <a:solidFill>
            <a:srgbClr val="2D303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962900" y="2032000"/>
            <a:ext cx="1016000" cy="1016000"/>
          </a:xfrm>
          <a:prstGeom prst="ellipse">
            <a:avLst/>
          </a:prstGeom>
          <a:solidFill>
            <a:srgbClr val="34D39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16900" y="22860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556500" y="32385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应用场景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28647">
            <a:off x="7708926" y="3676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7556500" y="3873500"/>
            <a:ext cx="18288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自动驾驶与车路协同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工业智能工厂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4K云游戏与安防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702800" y="1651000"/>
            <a:ext cx="2082800" cy="4064000"/>
          </a:xfrm>
          <a:prstGeom prst="roundRect">
            <a:avLst>
              <a:gd name="adj" fmla="val 6097"/>
            </a:avLst>
          </a:prstGeom>
          <a:solidFill>
            <a:srgbClr val="2D303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10236200" y="2032000"/>
            <a:ext cx="1016000" cy="1016000"/>
          </a:xfrm>
          <a:prstGeom prst="ellipse">
            <a:avLst/>
          </a:prstGeom>
          <a:solidFill>
            <a:srgbClr val="34D39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0200" y="2286000"/>
            <a:ext cx="508000" cy="508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829800" y="32385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进阶路线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28647">
            <a:off x="9982226" y="3676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9829800" y="3873500"/>
            <a:ext cx="18288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入门：基础概念与环境搭建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进阶：核心组件开发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高级：场景落地实战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09600" y="6248400"/>
            <a:ext cx="10972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从理论架构到实战落地，全方位解析边缘计算技术生态与未来趋势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什么是边缘计算？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4064000" cy="4699000"/>
          </a:xfrm>
          <a:prstGeom prst="roundRect">
            <a:avLst>
              <a:gd name="adj" fmla="val 3125"/>
            </a:avLst>
          </a:prstGeom>
          <a:solidFill>
            <a:srgbClr val="2D303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68500" y="1841500"/>
            <a:ext cx="1651000" cy="1651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3683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127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将计算、存储资源从“云端”推向离数据源更近的网络边缘，构建分布式算力架构。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207000"/>
            <a:ext cx="3556000" cy="635000"/>
          </a:xfrm>
          <a:prstGeom prst="roundRect">
            <a:avLst>
              <a:gd name="adj" fmla="val 2000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5308600"/>
            <a:ext cx="330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痛点：云端处理延迟高、带宽拥堵，算力需“下沉”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207000" y="1397000"/>
            <a:ext cx="3048000" cy="2222500"/>
          </a:xfrm>
          <a:prstGeom prst="roundRect">
            <a:avLst>
              <a:gd name="adj" fmla="val 5714"/>
            </a:avLst>
          </a:prstGeom>
          <a:solidFill>
            <a:srgbClr val="2D303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1000" y="17145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223000" y="17526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低延迟响应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461000" y="24765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B0B4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数据本地处理，响应速度达毫秒级，解决实时交互延迟痛点。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509000" y="1397000"/>
            <a:ext cx="3048000" cy="2222500"/>
          </a:xfrm>
          <a:prstGeom prst="roundRect">
            <a:avLst>
              <a:gd name="adj" fmla="val 5714"/>
            </a:avLst>
          </a:prstGeom>
          <a:solidFill>
            <a:srgbClr val="2D303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3000" y="17145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525000" y="17526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节省带宽成本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763000" y="24765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B0B4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仅回传关键结果，避免海量原始数据传输，大幅降低云端负荷。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207000" y="3873500"/>
            <a:ext cx="3048000" cy="2222500"/>
          </a:xfrm>
          <a:prstGeom prst="roundRect">
            <a:avLst>
              <a:gd name="adj" fmla="val 5714"/>
            </a:avLst>
          </a:prstGeom>
          <a:solidFill>
            <a:srgbClr val="2D303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61000" y="41910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223000" y="42291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数据隐私安全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461000" y="49530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B0B4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敏感数据本地脱敏，无需经过公网长距离传输，有效规避泄露风险。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509000" y="3873500"/>
            <a:ext cx="3048000" cy="2222500"/>
          </a:xfrm>
          <a:prstGeom prst="roundRect">
            <a:avLst>
              <a:gd name="adj" fmla="val 5714"/>
            </a:avLst>
          </a:prstGeom>
          <a:solidFill>
            <a:srgbClr val="2D303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63000" y="4191000"/>
            <a:ext cx="609600" cy="609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525000" y="42291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离线稳定运行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763000" y="49530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B0B4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断网状态下本地节点维持基础逻辑运行，保障业务连续性与可靠性。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边缘计算的核心架构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7A2F">
              <a:alpha val="100000"/>
            </a:srgbClr>
          </a:solidFill>
          <a:ln cap="flat" cmpd="sng">
            <a:solidFill>
              <a:srgbClr val="E65F1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2D313A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714500" y="1968500"/>
            <a:ext cx="1397000" cy="1397000"/>
          </a:xfrm>
          <a:prstGeom prst="ellipse">
            <a:avLst/>
          </a:prstGeom>
          <a:solidFill>
            <a:srgbClr val="FF7A2F">
              <a:alpha val="10000"/>
            </a:srgbClr>
          </a:solidFill>
          <a:ln cap="flat" cmpd="sng">
            <a:solidFill>
              <a:srgbClr val="E65F13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6600" y="2260600"/>
            <a:ext cx="812800" cy="812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952500" y="3492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终端层 Edge Devices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6370">
            <a:off x="1079515" y="39941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4127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B0B4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设备：手机、传感器、摄像头、无人机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FF7A2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职责：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数据采集与初步感知，实时捕捉物理世界信号</a:t>
            </a:r>
            <a:endParaRPr lang="en-US" sz="13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2D313A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397500" y="1968500"/>
            <a:ext cx="1397000" cy="1397000"/>
          </a:xfrm>
          <a:prstGeom prst="ellipse">
            <a:avLst/>
          </a:prstGeom>
          <a:solidFill>
            <a:srgbClr val="FF7A2F">
              <a:alpha val="10000"/>
            </a:srgbClr>
          </a:solidFill>
          <a:ln cap="flat" cmpd="sng">
            <a:solidFill>
              <a:srgbClr val="E65F13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9600" y="2260600"/>
            <a:ext cx="812800" cy="812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635500" y="3492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边缘节点层 Edge Nodes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6370">
            <a:off x="4762515" y="39941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4127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B0B4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设备：边缘网关、微型数据中心、MEC基站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FF7A2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职责：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本地计算、存储与协议转换，降低云端负载延迟</a:t>
            </a:r>
            <a:endParaRPr lang="en-US" sz="13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1280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2D313A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080500" y="1968500"/>
            <a:ext cx="1397000" cy="1397000"/>
          </a:xfrm>
          <a:prstGeom prst="ellipse">
            <a:avLst/>
          </a:prstGeom>
          <a:solidFill>
            <a:srgbClr val="FF7A2F">
              <a:alpha val="10000"/>
            </a:srgbClr>
          </a:solidFill>
          <a:ln cap="flat" cmpd="sng">
            <a:solidFill>
              <a:srgbClr val="E65F13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2600" y="2260600"/>
            <a:ext cx="812800" cy="812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318500" y="3492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核心云层 Core Cloud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6370">
            <a:off x="8445515" y="39941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18500" y="4127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B0B4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设备：公有云(AWS/Azure)、私有中心库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FF7A2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职责：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大数据深度分析、AI模型训练与全局策略下发</a:t>
            </a:r>
            <a:endParaRPr lang="en-US" sz="13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50000"/>
            </a:avLst>
          </a:prstGeom>
          <a:solidFill>
            <a:srgbClr val="FF7A2F">
              <a:alpha val="15000"/>
            </a:srgbClr>
          </a:solidFill>
          <a:ln w="12700" cap="flat" cmpd="sng">
            <a:solidFill>
              <a:srgbClr val="FF7A2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60452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A0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云-边-端 协同闭环：实现数据处理的分层优化与高效流转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关键技术栈：边缘计算落地的核心底座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4699000"/>
          </a:xfrm>
          <a:prstGeom prst="roundRect">
            <a:avLst>
              <a:gd name="adj" fmla="val 3846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625600" y="1841500"/>
            <a:ext cx="1066800" cy="1066800"/>
          </a:xfrm>
          <a:prstGeom prst="ellipse">
            <a:avLst/>
          </a:prstGeom>
          <a:solidFill>
            <a:srgbClr val="3B82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8800" y="2044700"/>
            <a:ext cx="660400" cy="660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3048000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容器化与编排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6195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核心：Docker + K8s标准配置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痛点：边缘端资源受限</a:t>
            </a:r>
            <a:endParaRPr lang="en-US" sz="14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优化：KubeEdge/K3s轻量化部署</a:t>
            </a:r>
            <a:endParaRPr lang="en-US" sz="14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397000"/>
            <a:ext cx="3302000" cy="4699000"/>
          </a:xfrm>
          <a:prstGeom prst="roundRect">
            <a:avLst>
              <a:gd name="adj" fmla="val 3846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397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308600" y="1841500"/>
            <a:ext cx="1066800" cy="1066800"/>
          </a:xfrm>
          <a:prstGeom prst="ellipse">
            <a:avLst/>
          </a:prstGeom>
          <a:solidFill>
            <a:srgbClr val="10B981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11800" y="2044700"/>
            <a:ext cx="660400" cy="660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572000" y="3048000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边缘AI (Edge AI)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35500" y="36195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目标：边缘侧深度学习推理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压缩：剪枝/量化(FP32转INT8)</a:t>
            </a:r>
            <a:endParaRPr lang="en-US" sz="14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加速：Jetson/NPU/Movidius</a:t>
            </a:r>
            <a:endParaRPr lang="en-US" sz="14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1397000"/>
            <a:ext cx="3302000" cy="4699000"/>
          </a:xfrm>
          <a:prstGeom prst="roundRect">
            <a:avLst>
              <a:gd name="adj" fmla="val 3846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28000" y="1397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991600" y="1841500"/>
            <a:ext cx="1066800" cy="1066800"/>
          </a:xfrm>
          <a:prstGeom prst="ellipse">
            <a:avLst/>
          </a:prstGeom>
          <a:solidFill>
            <a:srgbClr val="F59E0B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94800" y="2044700"/>
            <a:ext cx="660400" cy="660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255000" y="3048000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BBF2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多协议适配与互通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18500" y="36195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南向(设备): MQTT/Modbus/Zigbee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北向(云端): HTTP/HTTPS/gRPC</a:t>
            </a:r>
            <a:endParaRPr lang="en-US" sz="14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作用：统一语言，消除孤岛</a:t>
            </a:r>
            <a:endParaRPr lang="en-US" sz="14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0" y="6286500"/>
            <a:ext cx="12192000" cy="571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E3A8A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技术底座 · 赋能边缘智能落地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边缘计算的应用场景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334155">
              <a:alpha val="6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6800" y="1841500"/>
            <a:ext cx="914400" cy="914400"/>
          </a:xfrm>
          <a:prstGeom prst="ellipse">
            <a:avLst/>
          </a:prstGeom>
          <a:solidFill>
            <a:srgbClr val="F9731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00" y="20447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159000" y="1841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自动驾驶：毫秒级决策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159000" y="2286000"/>
            <a:ext cx="355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毫秒级处理雷达和摄像头数据，实时做出刹车或避障决策，保障行车安全。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159000" y="29845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痛点解决：</a:t>
            </a: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避免云端反馈延迟过高导致事故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334155">
              <a:alpha val="6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527800" y="1841500"/>
            <a:ext cx="914400" cy="914400"/>
          </a:xfrm>
          <a:prstGeom prst="ellipse">
            <a:avLst/>
          </a:prstGeom>
          <a:solidFill>
            <a:srgbClr val="10B981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1000" y="20447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620000" y="1841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智能工厂：预测性维护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0" y="2286000"/>
            <a:ext cx="355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实时监控生产线震动频率，在设备故障前几秒自动停机，防患于未然。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0" y="29845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避免停机损失，提升产能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937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334155">
              <a:alpha val="6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66800" y="4254500"/>
            <a:ext cx="914400" cy="914400"/>
          </a:xfrm>
          <a:prstGeom prst="ellipse">
            <a:avLst/>
          </a:prstGeom>
          <a:solidFill>
            <a:srgbClr val="3B82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44577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2159000" y="425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云游戏：极致体验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159000" y="4699000"/>
            <a:ext cx="355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将画面渲染任务放在靠近玩家的边缘节点，大幅缩短数据传输距离。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159000" y="53975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效果提升：</a:t>
            </a: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减少输入延迟，告别卡顿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3937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334155">
              <a:alpha val="60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527800" y="4254500"/>
            <a:ext cx="914400" cy="914400"/>
          </a:xfrm>
          <a:prstGeom prst="ellipse">
            <a:avLst/>
          </a:prstGeom>
          <a:solidFill>
            <a:srgbClr val="8B5C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1000" y="44577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620000" y="425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智能安防：降本增效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0" y="4699000"/>
            <a:ext cx="355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本地直接识别人脸或异常行为，仅将关键告警短视频上传至云端。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0" y="53975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</a:t>
            </a: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节省云端90%以上的存储与带宽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0" y="6477000"/>
            <a:ext cx="12192000" cy="381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97316">
                  <a:alpha val="100000"/>
                </a:srgbClr>
              </a:gs>
              <a:gs pos="50000">
                <a:srgbClr val="10B981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228">
                <a:alpha val="100000"/>
              </a:srgbClr>
            </a:gs>
            <a:gs pos="100000">
              <a:srgbClr val="2D313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学习路径建议：从入门到精通的进阶之路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4445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778000" y="1778000"/>
            <a:ext cx="1270000" cy="1270000"/>
          </a:xfrm>
          <a:prstGeom prst="ellipse">
            <a:avLst/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32000" y="2032000"/>
            <a:ext cx="762000" cy="762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952500" y="3175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入门阶段 · 基础构建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626">
            <a:off x="1016014" y="3676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810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目标：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建立边缘计算基础认知与动手实践体验。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🛠️ 行动：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 MQTT 协议；使用树莓派搭建传感器监测系统，完成数据采集。</a:t>
            </a:r>
            <a:endParaRPr lang="en-US" sz="14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18000" y="1397000"/>
            <a:ext cx="3302000" cy="4445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18000" y="1397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334000" y="1778000"/>
            <a:ext cx="1270000" cy="1270000"/>
          </a:xfrm>
          <a:prstGeom prst="ellipse">
            <a:avLst/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0" y="2032000"/>
            <a:ext cx="762000" cy="762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508500" y="3175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进阶阶段 · 节点管理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5626">
            <a:off x="4572014" y="3676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508500" y="3810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目标：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掌握分布式边缘节点的远程管理与运维能力。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🛠️ 行动：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 K3s 或 OpenYurt；实操远程管理多节点集群的部署与监控。</a:t>
            </a:r>
            <a:endParaRPr lang="en-US" sz="14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874000" y="1397000"/>
            <a:ext cx="3302000" cy="4445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0A5FA">
                <a:alpha val="3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874000" y="1397000"/>
            <a:ext cx="3302000" cy="762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890000" y="1778000"/>
            <a:ext cx="1270000" cy="1270000"/>
          </a:xfrm>
          <a:prstGeom prst="ellipse">
            <a:avLst/>
          </a:prstGeom>
          <a:solidFill>
            <a:srgbClr val="60A5F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0" y="2032000"/>
            <a:ext cx="762000" cy="762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064500" y="3175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高级阶段 · 边缘智能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5626">
            <a:off x="8128014" y="3676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064500" y="3810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目标：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 AI 能力下沉到边缘侧，实现本地实时推理。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🛠️ 行动：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 TensorFlow Lite 或 ONNX 模型到嵌入式设备，实现本地图像识别。</a:t>
            </a:r>
            <a:endParaRPr lang="en-US" sz="14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62000" y="60325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6121400"/>
            <a:ext cx="1066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核心策略：从硬件实践到架构管理，最终迈向边缘智能落地，循序渐进掌握核心能力。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0C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1016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边缘人工智能 (Edge AI)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9050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 spc="200">
                <a:solidFill>
                  <a:srgbClr val="00C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技术解析与实践指南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524000" y="5207000"/>
            <a:ext cx="1143000" cy="1143000"/>
          </a:xfrm>
          <a:prstGeom prst="ellipse">
            <a:avLst/>
          </a:prstGeom>
          <a:solidFill>
            <a:srgbClr val="00C48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4500" y="5397500"/>
            <a:ext cx="762000" cy="762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33500" y="63500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硬件算力基座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525000" y="5207000"/>
            <a:ext cx="1143000" cy="1143000"/>
          </a:xfrm>
          <a:prstGeom prst="ellipse">
            <a:avLst/>
          </a:prstGeom>
          <a:solidFill>
            <a:srgbClr val="00C48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5500" y="5397500"/>
            <a:ext cx="762000" cy="762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334500" y="63500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智能决策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1C20">
                <a:alpha val="100000"/>
              </a:srgbClr>
            </a:gs>
            <a:gs pos="100000">
              <a:srgbClr val="282C34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50800"/>
          </a:xfrm>
          <a:prstGeom prst="roundRect">
            <a:avLst>
              <a:gd name="adj" fmla="val 0"/>
            </a:avLst>
          </a:prstGeom>
          <a:solidFill>
            <a:srgbClr val="06D6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476500" cy="381000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6D6A0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485900" y="2032000"/>
            <a:ext cx="1016000" cy="1016000"/>
          </a:xfrm>
          <a:prstGeom prst="ellipse">
            <a:avLst/>
          </a:prstGeom>
          <a:solidFill>
            <a:srgbClr val="06D6A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76400" y="22225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62000" y="31750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6D6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6830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为什么需要边缘AI？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445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解决实时性、断网生存与隐私保护的核心痛点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397500"/>
            <a:ext cx="2476500" cy="50800"/>
          </a:xfrm>
          <a:prstGeom prst="roundRect">
            <a:avLst>
              <a:gd name="adj" fmla="val 0"/>
            </a:avLst>
          </a:prstGeom>
          <a:solidFill>
            <a:srgbClr val="06D6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492500" y="1651000"/>
            <a:ext cx="2476500" cy="381000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6D6A0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216400" y="2032000"/>
            <a:ext cx="1016000" cy="1016000"/>
          </a:xfrm>
          <a:prstGeom prst="ellipse">
            <a:avLst/>
          </a:prstGeom>
          <a:solidFill>
            <a:srgbClr val="06D6A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6900" y="2222500"/>
            <a:ext cx="635000" cy="635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492500" y="31750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6D6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19500" y="36830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核心挑战与解决方案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83000" y="4445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模型压缩、轻量化算法优化与高性能推理引擎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492500" y="5397500"/>
            <a:ext cx="2476500" cy="50800"/>
          </a:xfrm>
          <a:prstGeom prst="roundRect">
            <a:avLst>
              <a:gd name="adj" fmla="val 0"/>
            </a:avLst>
          </a:prstGeom>
          <a:solidFill>
            <a:srgbClr val="06D6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23000" y="1651000"/>
            <a:ext cx="2476500" cy="381000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6D6A0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946900" y="2032000"/>
            <a:ext cx="1016000" cy="1016000"/>
          </a:xfrm>
          <a:prstGeom prst="ellipse">
            <a:avLst/>
          </a:prstGeom>
          <a:solidFill>
            <a:srgbClr val="06D6A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7400" y="2222500"/>
            <a:ext cx="635000" cy="635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223000" y="31750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6D6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36830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开发与部署流程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13500" y="4445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云端模型训练到边缘端设备推理的完整闭环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5397500"/>
            <a:ext cx="2476500" cy="50800"/>
          </a:xfrm>
          <a:prstGeom prst="roundRect">
            <a:avLst>
              <a:gd name="adj" fmla="val 0"/>
            </a:avLst>
          </a:prstGeom>
          <a:solidFill>
            <a:srgbClr val="06D6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953500" y="1651000"/>
            <a:ext cx="2476500" cy="381000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6D6A0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677400" y="2032000"/>
            <a:ext cx="1016000" cy="1016000"/>
          </a:xfrm>
          <a:prstGeom prst="ellipse">
            <a:avLst/>
          </a:prstGeom>
          <a:solidFill>
            <a:srgbClr val="06D6A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67900" y="2222500"/>
            <a:ext cx="635000" cy="635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8953500" y="31750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6D6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080500" y="36830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硬件加速器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144000" y="4445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NPU、GPU、VPU与TPU等专用AI加速芯片解析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953500" y="5397500"/>
            <a:ext cx="2476500" cy="50800"/>
          </a:xfrm>
          <a:prstGeom prst="roundRect">
            <a:avLst>
              <a:gd name="adj" fmla="val 0"/>
            </a:avLst>
          </a:prstGeom>
          <a:solidFill>
            <a:srgbClr val="06D6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为什么需要边缘AI？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810000" cy="4699000"/>
          </a:xfrm>
          <a:prstGeom prst="roundRect">
            <a:avLst>
              <a:gd name="adj" fmla="val 4000"/>
            </a:avLst>
          </a:prstGeom>
          <a:solidFill>
            <a:srgbClr val="2D374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51000" y="2032000"/>
            <a:ext cx="2032000" cy="2032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4191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Edge AI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4762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将智能带到数据源头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" y="5397500"/>
            <a:ext cx="3175000" cy="457200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低延迟 · 高可靠 · 强隐私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953000" y="1397000"/>
            <a:ext cx="6477000" cy="1397000"/>
          </a:xfrm>
          <a:prstGeom prst="roundRect">
            <a:avLst>
              <a:gd name="adj" fmla="val 9090"/>
            </a:avLst>
          </a:prstGeom>
          <a:solidFill>
            <a:srgbClr val="2D374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0500" y="1651000"/>
            <a:ext cx="889000" cy="889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350000" y="1587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实时性要求极高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2032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在机械臂抓取等具身智能场景中，视觉与控制闭环需毫秒级完成，拒绝云端网络抖动风险。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953000" y="3048000"/>
            <a:ext cx="6477000" cy="1397000"/>
          </a:xfrm>
          <a:prstGeom prst="roundRect">
            <a:avLst>
              <a:gd name="adj" fmla="val 9090"/>
            </a:avLst>
          </a:prstGeom>
          <a:solidFill>
            <a:srgbClr val="2D374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70500" y="3302000"/>
            <a:ext cx="889000" cy="889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350000" y="3238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断网生存能力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3683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针对智慧农业等网络不稳定的偏远场景，本地AI可独立判断病虫害与异常，保障业务连续。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953000" y="4699000"/>
            <a:ext cx="6477000" cy="1397000"/>
          </a:xfrm>
          <a:prstGeom prst="roundRect">
            <a:avLst>
              <a:gd name="adj" fmla="val 9090"/>
            </a:avLst>
          </a:prstGeom>
          <a:solidFill>
            <a:srgbClr val="2D374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70500" y="4953000"/>
            <a:ext cx="889000" cy="889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350000" y="4889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隐私与安全保障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5334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智能家居摄像头与医疗设备的敏感数据（人脸/病历）本地闭环处理，规避云端泄露风险。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>
                <a:alpha val="100000"/>
              </a:srgbClr>
            </a:gs>
            <a:gs pos="100000">
              <a:srgbClr val="0F17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核心挑战与解决方案：模型压缩优化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10668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1651000"/>
            <a:ext cx="558800" cy="558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841500" y="1587500"/>
            <a:ext cx="927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边缘设备受限于算力、内存与功耗，无法承载庞大模型。必须通过技术手段对模型进行“瘦身”，实现高效部署。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1200" y="2921000"/>
            <a:ext cx="863600" cy="863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952500" y="3937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量化 (Quantization)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445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方法：FP32转FP16/INT8</a:t>
            </a:r>
            <a:b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效果：体积缩4倍，速度飙升，精度损失极低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18000" y="2667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37200" y="2921000"/>
            <a:ext cx="863600" cy="863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508500" y="3937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剪枝 (Pruning)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08500" y="4445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方法：移除冗余权重连接</a:t>
            </a:r>
            <a:b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效果：大幅减少计算量与内存占用，提升推理速度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874000" y="2667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93200" y="2921000"/>
            <a:ext cx="863600" cy="863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064500" y="3937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知识蒸馏 (Distillation)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64500" y="4445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方法：“教师模型”训练“学生模型”</a:t>
            </a:r>
            <a:b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效果：小模型继承大模型能力，轻量且高精度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F9731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核心价值：在保持模型高精度的前提下，最大化边缘端的推理效率与部署可行性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核心挑战与解决方案 (2/2)：算法与框架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4572000"/>
          </a:xfrm>
          <a:prstGeom prst="roundRect">
            <a:avLst>
              <a:gd name="adj" fmla="val 4166"/>
            </a:avLst>
          </a:prstGeom>
          <a:solidFill>
            <a:srgbClr val="2D303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143000" y="1905000"/>
            <a:ext cx="914400" cy="914400"/>
          </a:xfrm>
          <a:prstGeom prst="ellipse">
            <a:avLst/>
          </a:prstGeom>
          <a:solidFill>
            <a:srgbClr val="34D39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46200" y="21082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286000" y="20574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轻量化算法架构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822">
            <a:off x="1143009" y="3041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143000" y="3302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目标检测：YOLO 系列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优选 YOLOv8n 等单阶段模型，在精度与帧率之间取得极佳平衡，适配边缘计算场景。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143000" y="4572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主干网络：MobileNet/ShuffleNet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专为低算力设备设计的轻量级 Backbone，大幅降低内存占用与计算延迟。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1524000"/>
            <a:ext cx="5207000" cy="4572000"/>
          </a:xfrm>
          <a:prstGeom prst="roundRect">
            <a:avLst>
              <a:gd name="adj" fmla="val 4166"/>
            </a:avLst>
          </a:prstGeom>
          <a:solidFill>
            <a:srgbClr val="2D303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604000" y="1905000"/>
            <a:ext cx="914400" cy="914400"/>
          </a:xfrm>
          <a:prstGeom prst="ellipse">
            <a:avLst/>
          </a:prstGeom>
          <a:solidFill>
            <a:srgbClr val="F9731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07200" y="21082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747000" y="20574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边缘推理框架与引擎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822">
            <a:off x="6604009" y="3041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04000" y="3238500"/>
            <a:ext cx="4445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ONNX Runtime：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跨平台中间件，实现模型格式的高效转换与推理。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TensorRT：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NVIDIA 极致加速库，Jetson 设备部署的必选方案。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NCNN / MNN：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腾讯/阿里开源框架，针对 ARM 架构深度优化。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TinyML：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TensorFlow Lite for Microcontrollers，适用于资源受限的 MCU。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4D399">
                  <a:alpha val="100000"/>
                </a:srgbClr>
              </a:gs>
              <a:gs pos="100000">
                <a:srgbClr val="F97316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025">
                <a:alpha val="100000"/>
              </a:srgbClr>
            </a:gs>
            <a:gs pos="100000">
              <a:srgbClr val="2C2F3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Edge AI 开发与部署流程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35000" y="1778000"/>
            <a:ext cx="2540000" cy="4064000"/>
          </a:xfrm>
          <a:prstGeom prst="roundRect">
            <a:avLst>
              <a:gd name="adj" fmla="val 5000"/>
            </a:avLst>
          </a:prstGeom>
          <a:solidFill>
            <a:srgbClr val="353941">
              <a:alpha val="9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2159000"/>
            <a:ext cx="1270000" cy="1270000"/>
          </a:xfrm>
          <a:prstGeom prst="ellipse">
            <a:avLst/>
          </a:prstGeom>
          <a:solidFill>
            <a:srgbClr val="282C34">
              <a:alpha val="100000"/>
            </a:srgbClr>
          </a:solidFill>
          <a:ln w="25400" cap="flat" cmpd="sng">
            <a:solidFill>
              <a:srgbClr val="FF8C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" y="2413000"/>
            <a:ext cx="762000" cy="762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62000" y="3619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云端训练 (Train)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5500" y="4127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利用高性能算力采集数据，训练生成高精度模型（.pt / .pth）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" y="5461000"/>
            <a:ext cx="2540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429000" y="1778000"/>
            <a:ext cx="2540000" cy="4064000"/>
          </a:xfrm>
          <a:prstGeom prst="roundRect">
            <a:avLst>
              <a:gd name="adj" fmla="val 5000"/>
            </a:avLst>
          </a:prstGeom>
          <a:solidFill>
            <a:srgbClr val="353941">
              <a:alpha val="9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064000" y="2159000"/>
            <a:ext cx="1270000" cy="1270000"/>
          </a:xfrm>
          <a:prstGeom prst="ellipse">
            <a:avLst/>
          </a:prstGeom>
          <a:solidFill>
            <a:srgbClr val="282C34">
              <a:alpha val="100000"/>
            </a:srgbClr>
          </a:solidFill>
          <a:ln w="25400" cap="flat" cmpd="sng">
            <a:solidFill>
              <a:srgbClr val="FF8C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8000" y="2413000"/>
            <a:ext cx="762000" cy="762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556000" y="3619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转换与优化 (Opt)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19500" y="4127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导出为ONNX格式，经TensorRT/OpenVINO量化编译为轻量模型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429000" y="5461000"/>
            <a:ext cx="2540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223000" y="1778000"/>
            <a:ext cx="2540000" cy="4064000"/>
          </a:xfrm>
          <a:prstGeom prst="roundRect">
            <a:avLst>
              <a:gd name="adj" fmla="val 5000"/>
            </a:avLst>
          </a:prstGeom>
          <a:solidFill>
            <a:srgbClr val="353941">
              <a:alpha val="9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858000" y="2159000"/>
            <a:ext cx="1270000" cy="1270000"/>
          </a:xfrm>
          <a:prstGeom prst="ellipse">
            <a:avLst/>
          </a:prstGeom>
          <a:solidFill>
            <a:srgbClr val="282C34">
              <a:alpha val="100000"/>
            </a:srgbClr>
          </a:solidFill>
          <a:ln w="25400" cap="flat" cmpd="sng">
            <a:solidFill>
              <a:srgbClr val="FF8C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2000" y="2413000"/>
            <a:ext cx="762000" cy="762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350000" y="3619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边缘部署 (Deploy)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13500" y="4127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将编译后的模型文件下发至边缘网关或嵌入式单板计算机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5461000"/>
            <a:ext cx="2540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017000" y="1778000"/>
            <a:ext cx="2540000" cy="4064000"/>
          </a:xfrm>
          <a:prstGeom prst="roundRect">
            <a:avLst>
              <a:gd name="adj" fmla="val 5000"/>
            </a:avLst>
          </a:prstGeom>
          <a:solidFill>
            <a:srgbClr val="353941">
              <a:alpha val="9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652000" y="2159000"/>
            <a:ext cx="1270000" cy="1270000"/>
          </a:xfrm>
          <a:prstGeom prst="ellipse">
            <a:avLst/>
          </a:prstGeom>
          <a:solidFill>
            <a:srgbClr val="282C34">
              <a:alpha val="100000"/>
            </a:srgbClr>
          </a:solidFill>
          <a:ln w="25400" cap="flat" cmpd="sng">
            <a:solidFill>
              <a:srgbClr val="FF8C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06000" y="2413000"/>
            <a:ext cx="762000" cy="762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144000" y="3619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本地推理 (Infer)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207500" y="4127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实时采集传感数据，调用推理引擎快速计算并触发本地动作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017000" y="5461000"/>
            <a:ext cx="2540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35000" y="6032500"/>
            <a:ext cx="10922000" cy="508000"/>
          </a:xfrm>
          <a:prstGeom prst="roundRect">
            <a:avLst>
              <a:gd name="adj" fmla="val 25000"/>
            </a:avLst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35000" y="6096000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核心价值：从云端到边缘，构建低延迟、高可靠的智能闭环生态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硬件加速器 (AI Chips at the Edge)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4376">
            <a:off x="762032" y="1200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52C41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651000"/>
            <a:ext cx="3302000" cy="4191000"/>
          </a:xfrm>
          <a:prstGeom prst="roundRect">
            <a:avLst>
              <a:gd name="adj" fmla="val 3846"/>
            </a:avLst>
          </a:prstGeom>
          <a:solidFill>
            <a:srgbClr val="282C34">
              <a:alpha val="100000"/>
            </a:srgbClr>
          </a:solidFill>
          <a:ln w="12700" cap="flat" cmpd="sng">
            <a:solidFill>
              <a:srgbClr val="52C41A">
                <a:alpha val="3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752600" y="2032000"/>
            <a:ext cx="1320800" cy="1320800"/>
          </a:xfrm>
          <a:prstGeom prst="ellipse">
            <a:avLst/>
          </a:prstGeom>
          <a:solidFill>
            <a:srgbClr val="52C41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6600" y="2286000"/>
            <a:ext cx="812800" cy="812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952500" y="3556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NPU 神经网络单元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064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专为矩阵运算设计，能效比极高，专注深度学习推理加速。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9500" y="5080000"/>
            <a:ext cx="2667000" cy="508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瑞芯微 RK3588 (6 TOPS)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4191000"/>
          </a:xfrm>
          <a:prstGeom prst="roundRect">
            <a:avLst>
              <a:gd name="adj" fmla="val 3846"/>
            </a:avLst>
          </a:prstGeom>
          <a:solidFill>
            <a:srgbClr val="282C34">
              <a:alpha val="100000"/>
            </a:srgbClr>
          </a:solidFill>
          <a:ln w="12700" cap="flat" cmpd="sng">
            <a:solidFill>
              <a:srgbClr val="52C41A">
                <a:alpha val="3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435600" y="2032000"/>
            <a:ext cx="1320800" cy="1320800"/>
          </a:xfrm>
          <a:prstGeom prst="ellipse">
            <a:avLst/>
          </a:prstGeom>
          <a:solidFill>
            <a:srgbClr val="52C41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9600" y="2286000"/>
            <a:ext cx="812800" cy="812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635500" y="3556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边缘 GPU 板卡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35500" y="4064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性能强悍，支持复杂模型与高分辨率视频流的实时处理。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762500" y="5080000"/>
            <a:ext cx="2667000" cy="508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NVIDIA Jetson 系列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1651000"/>
            <a:ext cx="3302000" cy="4191000"/>
          </a:xfrm>
          <a:prstGeom prst="roundRect">
            <a:avLst>
              <a:gd name="adj" fmla="val 3846"/>
            </a:avLst>
          </a:prstGeom>
          <a:solidFill>
            <a:srgbClr val="282C34">
              <a:alpha val="100000"/>
            </a:srgbClr>
          </a:solidFill>
          <a:ln w="12700" cap="flat" cmpd="sng">
            <a:solidFill>
              <a:srgbClr val="52C41A">
                <a:alpha val="3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118600" y="2032000"/>
            <a:ext cx="1320800" cy="1320800"/>
          </a:xfrm>
          <a:prstGeom prst="ellipse">
            <a:avLst/>
          </a:prstGeom>
          <a:solidFill>
            <a:srgbClr val="52C41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2600" y="2286000"/>
            <a:ext cx="812800" cy="812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318500" y="3556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VPU / TPU 加速棒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18500" y="4064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极致低功耗与紧凑体积，专为嵌入式设备与边缘侧部署优化。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445500" y="5080000"/>
            <a:ext cx="2667000" cy="508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Intel Movidius / Google Coral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6096000"/>
            <a:ext cx="10668000" cy="508000"/>
          </a:xfrm>
          <a:prstGeom prst="roundRect">
            <a:avLst>
              <a:gd name="adj" fmla="val 12500"/>
            </a:avLst>
          </a:prstGeom>
          <a:solidFill>
            <a:srgbClr val="52C41A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从专用芯片到模组，多元化硬件为边缘智能提供澎湃算力基座。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>
                <a:alpha val="100000"/>
              </a:srgbClr>
            </a:gs>
            <a:gs pos="100000">
              <a:srgbClr val="0F17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10668000" cy="4064000"/>
          </a:xfrm>
          <a:prstGeom prst="roundRect">
            <a:avLst>
              <a:gd name="adj" fmla="val 4687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51000" y="1905000"/>
            <a:ext cx="1270000" cy="1270000"/>
          </a:xfrm>
          <a:prstGeom prst="rect">
            <a:avLst/>
          </a:prstGeom>
          <a:effectLst>
            <a:outerShdw blurRad="127000" dist="63500" dir="2700000" algn="tl" rotWithShape="0">
              <a:srgbClr val="34D399">
                <a:alpha val="4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1397000" y="3302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嵌入式硬件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1000" y="1905000"/>
            <a:ext cx="1270000" cy="1270000"/>
          </a:xfrm>
          <a:prstGeom prst="rect">
            <a:avLst/>
          </a:prstGeom>
          <a:effectLst>
            <a:outerShdw blurRad="127000" dist="63500" dir="2700000" algn="tl" rotWithShape="0">
              <a:srgbClr val="34D399">
                <a:alpha val="40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9017000" y="3302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智能推理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302000" y="1905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TinyML 实战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1459">
            <a:off x="4191011" y="29146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4D399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3302000" y="3175000"/>
            <a:ext cx="558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2200" b="0" i="0" u="none" strike="noStrike">
                <a:solidFill>
                  <a:srgbClr val="A7F3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RT-Thread 上部署 AI 模型</a:t>
            </a:r>
            <a:br>
              <a:rPr lang="en-US" sz="2200" b="0" i="0" u="none" strike="noStrike">
                <a:solidFill>
                  <a:srgbClr val="A7F3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200" b="0" i="0" u="none" strike="noStrike">
                <a:solidFill>
                  <a:srgbClr val="A7F3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实现边缘端“感知-推理-行动”闭环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 | TinyML 实战开发分享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032000" cy="3683000"/>
          </a:xfrm>
          <a:prstGeom prst="roundRect">
            <a:avLst>
              <a:gd name="adj" fmla="val 6250"/>
            </a:avLst>
          </a:prstGeom>
          <a:solidFill>
            <a:srgbClr val="334155">
              <a:alpha val="8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2032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7000" y="2603500"/>
            <a:ext cx="762000" cy="762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952500" y="3556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 TinyML？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191000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定义、挑战与核心应用场景解析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921000" y="1778000"/>
            <a:ext cx="2032000" cy="3683000"/>
          </a:xfrm>
          <a:prstGeom prst="roundRect">
            <a:avLst>
              <a:gd name="adj" fmla="val 6250"/>
            </a:avLst>
          </a:prstGeom>
          <a:solidFill>
            <a:srgbClr val="334155">
              <a:alpha val="8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111500" y="2032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6000" y="2603500"/>
            <a:ext cx="762000" cy="762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111500" y="3556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模型设计与训练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111500" y="4191000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轻量级网络选型与端侧训练约束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080000" y="1778000"/>
            <a:ext cx="2032000" cy="3683000"/>
          </a:xfrm>
          <a:prstGeom prst="roundRect">
            <a:avLst>
              <a:gd name="adj" fmla="val 6250"/>
            </a:avLst>
          </a:prstGeom>
          <a:solidFill>
            <a:srgbClr val="334155">
              <a:alpha val="8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270500" y="2032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0" y="2603500"/>
            <a:ext cx="762000" cy="762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270500" y="3556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转换与量化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270500" y="4191000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TFLite 转换、全整数量化与代码生成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239000" y="1778000"/>
            <a:ext cx="2032000" cy="3683000"/>
          </a:xfrm>
          <a:prstGeom prst="roundRect">
            <a:avLst>
              <a:gd name="adj" fmla="val 6250"/>
            </a:avLst>
          </a:prstGeom>
          <a:solidFill>
            <a:srgbClr val="334155">
              <a:alpha val="8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429500" y="2032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4000" y="2603500"/>
            <a:ext cx="762000" cy="762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429500" y="3556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RT-Thread 部署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429500" y="4191000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推理引擎引入、底层硬件加速与内存分配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398000" y="1778000"/>
            <a:ext cx="2032000" cy="3683000"/>
          </a:xfrm>
          <a:prstGeom prst="roundRect">
            <a:avLst>
              <a:gd name="adj" fmla="val 6250"/>
            </a:avLst>
          </a:prstGeom>
          <a:solidFill>
            <a:srgbClr val="334155">
              <a:alpha val="8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588500" y="2032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33000" y="2603500"/>
            <a:ext cx="762000" cy="762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588500" y="3556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编写应用逻辑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588500" y="4191000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构建感知-推理-行动的完整智能闭环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0" y="6223000"/>
            <a:ext cx="121920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762000" y="6286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开启边缘智能的极简之旅：从模型设计到端侧落地的全流程解析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329">
                <a:alpha val="100000"/>
              </a:srgbClr>
            </a:gs>
            <a:gs pos="100000">
              <a:srgbClr val="0F141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 TinyML？ —— 边缘端的 AI 推理技术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1587500"/>
            <a:ext cx="762000" cy="762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159000" y="1460500"/>
            <a:ext cx="889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核心定义：</a:t>
            </a: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在资源极其受限的微控制器（MCU）上实现 AI 推理，将智能计算能力推向物联网感知的最末端。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5207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3238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905000" y="32766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核心挑战：极致资源限制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822">
            <a:off x="1143009" y="4057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143000" y="4254500"/>
            <a:ext cx="444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5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硬件瓶颈：KB级内存，无操作系统支持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5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极致优化：必须“榨干每一KB内存”，无法运行复杂视觉模型</a:t>
            </a:r>
            <a:endParaRPr lang="en-US" sz="15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2921000"/>
            <a:ext cx="5207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32385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366000" y="32766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应用主战场：端侧感知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822">
            <a:off x="6604009" y="4057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04000" y="4254500"/>
            <a:ext cx="444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5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数据类型：处理一维时间序列（如传感器、IMU数据）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5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典型场景：工业异常检测、设备状态分类、低功耗语音唤醒</a:t>
            </a:r>
            <a:endParaRPr lang="en-US" sz="15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0" y="6477000"/>
            <a:ext cx="12192000" cy="381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59E0B">
                  <a:alpha val="100000"/>
                </a:srgbClr>
              </a:gs>
              <a:gs pos="100000">
                <a:srgbClr val="10B98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模型设计与训练 (Cloud/PC 端)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0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6B6D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524000"/>
            <a:ext cx="5207000" cy="4191000"/>
          </a:xfrm>
          <a:prstGeom prst="roundRect">
            <a:avLst>
              <a:gd name="adj" fmla="val 3030"/>
            </a:avLst>
          </a:prstGeom>
          <a:solidFill>
            <a:srgbClr val="2C3E50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79500" y="1778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轻量级网络选型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79500" y="2413000"/>
            <a:ext cx="762000" cy="762000"/>
          </a:xfrm>
          <a:prstGeom prst="ellipse">
            <a:avLst/>
          </a:prstGeom>
          <a:solidFill>
            <a:srgbClr val="34D399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2540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968500" y="24130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环境传感器数据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使用简单的多层感知机 (MLP) 或决策树，结构简单，低功耗运行。</a:t>
            </a:r>
            <a:endParaRPr lang="en-US" sz="13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79500" y="3683000"/>
            <a:ext cx="762000" cy="762000"/>
          </a:xfrm>
          <a:prstGeom prst="ellipse">
            <a:avLst/>
          </a:prstGeom>
          <a:solidFill>
            <a:srgbClr val="34D399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3810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968500" y="36830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运动姿态/时间序列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使用小型 1D CNN 网络提取时序特征，兼顾实时性与识别精度。</a:t>
            </a:r>
            <a:endParaRPr lang="en-US" sz="13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1524000"/>
            <a:ext cx="5207000" cy="4191000"/>
          </a:xfrm>
          <a:prstGeom prst="roundRect">
            <a:avLst>
              <a:gd name="adj" fmla="val 3030"/>
            </a:avLst>
          </a:prstGeom>
          <a:solidFill>
            <a:srgbClr val="2C3E50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540500" y="1778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B92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训练实施与优化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40500" y="2413000"/>
            <a:ext cx="635000" cy="635000"/>
          </a:xfrm>
          <a:prstGeom prst="ellipse">
            <a:avLst/>
          </a:prstGeom>
          <a:solidFill>
            <a:srgbClr val="FB923C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2540000"/>
            <a:ext cx="381000" cy="381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302500" y="2413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开发工具栈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PC端使用 TensorFlow 或 PyTorch 进行模型构建。</a:t>
            </a:r>
            <a:endParaRPr lang="en-US" sz="13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540500" y="3238500"/>
            <a:ext cx="635000" cy="635000"/>
          </a:xfrm>
          <a:prstGeom prst="ellipse">
            <a:avLst/>
          </a:prstGeom>
          <a:solidFill>
            <a:srgbClr val="FB923C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3365500"/>
            <a:ext cx="381000" cy="381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302500" y="32385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数据来源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基于真实场景采集的传感器数据进行训练，提升泛化能力。</a:t>
            </a:r>
            <a:endParaRPr lang="en-US" sz="13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540500" y="4064000"/>
            <a:ext cx="635000" cy="635000"/>
          </a:xfrm>
          <a:prstGeom prst="ellipse">
            <a:avLst/>
          </a:prstGeom>
          <a:solidFill>
            <a:srgbClr val="FB923C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4191000"/>
            <a:ext cx="381000" cy="381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302500" y="4064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核心约束策略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严格控制网络层数与参数规模，从源头保证模型轻量可部署。</a:t>
            </a:r>
            <a:endParaRPr lang="en-US" sz="13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62000" y="5905500"/>
            <a:ext cx="10668000" cy="571500"/>
          </a:xfrm>
          <a:prstGeom prst="roundRect">
            <a:avLst>
              <a:gd name="adj" fmla="val 22222"/>
            </a:avLst>
          </a:prstGeom>
          <a:solidFill>
            <a:srgbClr val="06B6D4">
              <a:alpha val="15000"/>
            </a:srgbClr>
          </a:solidFill>
          <a:ln w="12700" cap="flat" cmpd="sng">
            <a:solidFill>
              <a:srgbClr val="06B6D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62000" y="59944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核心策略：以端侧部署为导向，在保证效果的前提下极致压缩模型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202C">
                <a:alpha val="100000"/>
              </a:srgbClr>
            </a:gs>
            <a:gs pos="100000">
              <a:srgbClr val="0F17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模型转换与极度量化 (PC 端)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TinyML 核心步骤：将训练好的模型“压缩”至 MCU 可运行的极致轻量形态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3683000"/>
          </a:xfrm>
          <a:prstGeom prst="roundRect">
            <a:avLst>
              <a:gd name="adj" fmla="val 3759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34155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816100" y="2095500"/>
            <a:ext cx="1270000" cy="1270000"/>
          </a:xfrm>
          <a:prstGeom prst="ellipse">
            <a:avLst/>
          </a:prstGeom>
          <a:solidFill>
            <a:srgbClr val="FF7F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70100" y="2349500"/>
            <a:ext cx="762000" cy="762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3492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7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转换 TFLite 格式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4000500"/>
            <a:ext cx="3124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TensorFlow Lite 转换器，将 .pb 或 .h5 模型转换为移动端专用的 .tflite 格式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1778000"/>
            <a:ext cx="3378200" cy="3683000"/>
          </a:xfrm>
          <a:prstGeom prst="roundRect">
            <a:avLst>
              <a:gd name="adj" fmla="val 3759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34155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461000" y="2095500"/>
            <a:ext cx="1270000" cy="1270000"/>
          </a:xfrm>
          <a:prstGeom prst="ellipse">
            <a:avLst/>
          </a:prstGeom>
          <a:solidFill>
            <a:srgbClr val="FF7F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0" y="2349500"/>
            <a:ext cx="762000" cy="762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533900" y="3492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7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全整数量化 (INT8)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33900" y="4000500"/>
            <a:ext cx="3124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32位浮点转8位整数。体积缩减4倍，无FPU的MCU推理速度提升10倍+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1778000"/>
            <a:ext cx="3378200" cy="3683000"/>
          </a:xfrm>
          <a:prstGeom prst="roundRect">
            <a:avLst>
              <a:gd name="adj" fmla="val 3759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34155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105900" y="2095500"/>
            <a:ext cx="1270000" cy="1270000"/>
          </a:xfrm>
          <a:prstGeom prst="ellipse">
            <a:avLst/>
          </a:prstGeom>
          <a:solidFill>
            <a:srgbClr val="FF7F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59900" y="2349500"/>
            <a:ext cx="762000" cy="762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178800" y="3492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7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生成 C 数组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78800" y="4000500"/>
            <a:ext cx="3124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通过工具转换为 model.h，将模型作为常量数组直接编译进 MCU 的 Flash 中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33333"/>
            </a:avLst>
          </a:prstGeom>
          <a:solidFill>
            <a:srgbClr val="FF7F00">
              <a:alpha val="10000"/>
            </a:srgbClr>
          </a:solidFill>
          <a:ln w="12700" cap="flat" cmpd="sng">
            <a:solidFill>
              <a:srgbClr val="FF7F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3000" y="5880100"/>
            <a:ext cx="431800" cy="431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714500" y="5842000"/>
            <a:ext cx="952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关键价值：</a:t>
            </a: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通过量化与代码化，实现了模型在资源极度受限的 MCU 上的高效部署与运行。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RT-Thread 集成与部署 (Device 端)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2E323C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3500" y="2032000"/>
            <a:ext cx="2159000" cy="2159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431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Device Side Core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4826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A0A5A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RT-Thread 实时操作系统的 TinyML 嵌入式部署核心架构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18000" y="1397000"/>
            <a:ext cx="7112000" cy="2794000"/>
          </a:xfrm>
          <a:prstGeom prst="roundRect">
            <a:avLst>
              <a:gd name="adj" fmla="val 5454"/>
            </a:avLst>
          </a:prstGeom>
          <a:solidFill>
            <a:srgbClr val="2E323C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6256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016500" y="15875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D1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核心推理引擎集成方案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6611">
            <a:off x="4572006" y="2089150"/>
            <a:ext cx="660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4A5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5500" y="2286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2260600"/>
            <a:ext cx="596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TensorFlow Lite for Microcontrollers (TFLM)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最正统的TinyML引擎，可通过RT-Thread软件包一键引入。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5500" y="2984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07000" y="2959100"/>
            <a:ext cx="596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CMSIS-NN 硬件加速库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务必开启！利用ARM Cortex-M内核的SIMD指令集进行硬件级加速。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318000" y="4445000"/>
            <a:ext cx="7112000" cy="1651000"/>
          </a:xfrm>
          <a:prstGeom prst="roundRect">
            <a:avLst>
              <a:gd name="adj" fmla="val 9230"/>
            </a:avLst>
          </a:prstGeom>
          <a:solidFill>
            <a:srgbClr val="2E323C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318000" y="4445000"/>
            <a:ext cx="76200" cy="1651000"/>
          </a:xfrm>
          <a:prstGeom prst="roundRect">
            <a:avLst>
              <a:gd name="adj" fmla="val 0"/>
            </a:avLst>
          </a:prstGeom>
          <a:solidFill>
            <a:srgbClr val="FF9F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9000" y="48895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524500" y="4762500"/>
            <a:ext cx="558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9F4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Tensor Arena 内存竞技场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静态分配的关键内存区域，用于存放计算过程中的张量。需根据模型大小精打细算（通常2KB-10KB），是模型运行的核心“工作台”。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5D181">
                  <a:alpha val="100000"/>
                </a:srgbClr>
              </a:gs>
              <a:gs pos="100000">
                <a:srgbClr val="FF9F43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编写应用逻辑：感知 - 推理 - 行动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RT-Thread 多线程架构，构建从数据采集到云端执行的完整智能闭环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2476500" cy="3556000"/>
          </a:xfrm>
          <a:prstGeom prst="roundRect">
            <a:avLst>
              <a:gd name="adj" fmla="val 5128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485900" y="2286000"/>
            <a:ext cx="1016000" cy="1016000"/>
          </a:xfrm>
          <a:prstGeom prst="ellipse">
            <a:avLst/>
          </a:prstGeom>
          <a:solidFill>
            <a:srgbClr val="F9731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76400" y="24765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3429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数据采集线程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9370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定时通过 I2C / SPI 或 ADC 接口读取传感器原始数据，确保实时性。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1905000"/>
            <a:ext cx="2476500" cy="3556000"/>
          </a:xfrm>
          <a:prstGeom prst="roundRect">
            <a:avLst>
              <a:gd name="adj" fmla="val 5128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216400" y="2286000"/>
            <a:ext cx="1016000" cy="1016000"/>
          </a:xfrm>
          <a:prstGeom prst="ellipse">
            <a:avLst/>
          </a:prstGeom>
          <a:solidFill>
            <a:srgbClr val="F9731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6900" y="2476500"/>
            <a:ext cx="635000" cy="635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619500" y="3429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数据预处理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19500" y="39370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归一化处理：将原始物理量缩放到模型要求的输入范围（如 INT8）。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905000"/>
            <a:ext cx="2476500" cy="3556000"/>
          </a:xfrm>
          <a:prstGeom prst="roundRect">
            <a:avLst>
              <a:gd name="adj" fmla="val 5128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946900" y="2286000"/>
            <a:ext cx="1016000" cy="1016000"/>
          </a:xfrm>
          <a:prstGeom prst="ellipse">
            <a:avLst/>
          </a:prstGeom>
          <a:solidFill>
            <a:srgbClr val="F9731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7400" y="2476500"/>
            <a:ext cx="635000" cy="635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350000" y="3429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推理线程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39370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 TfLiteInvoke 启动 AI 推理，读取并解析输出结果（正常/预警/危险）。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953500" y="1905000"/>
            <a:ext cx="2476500" cy="3556000"/>
          </a:xfrm>
          <a:prstGeom prst="roundRect">
            <a:avLst>
              <a:gd name="adj" fmla="val 5128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677400" y="2286000"/>
            <a:ext cx="1016000" cy="1016000"/>
          </a:xfrm>
          <a:prstGeom prst="ellipse">
            <a:avLst/>
          </a:prstGeom>
          <a:solidFill>
            <a:srgbClr val="F9731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67900" y="2476500"/>
            <a:ext cx="635000" cy="635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080500" y="3429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通信与执行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080500" y="39370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根据结果触发继电器等硬件控制，同时通过 MQTT 协议将分析结果上报云端。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0" y="584200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F97316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0" y="5842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端到端智能 IoT 节点核心逻辑流程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4516</Words>
  <Application>WPS 演示</Application>
  <PresentationFormat/>
  <Paragraphs>415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你看不见我，看不见我</cp:lastModifiedBy>
  <cp:revision>1</cp:revision>
  <dcterms:created xsi:type="dcterms:W3CDTF">2026-03-26T12:41:41Z</dcterms:created>
  <dcterms:modified xsi:type="dcterms:W3CDTF">2026-03-26T12:41:41Z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3E389AA279DC425A938036366B5583BD_12</vt:lpwstr>
  </property>
  <property fmtid="{D5CDD505-2E9C-101B-9397-08002B2CF9AE}" pid="3" name="KSOProductBuildVer">
    <vt:lpwstr>2052-12.1.0.25225</vt:lpwstr>
  </property>
</Properties>
</file>